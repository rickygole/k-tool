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0000" y="900000"/>
            <a:ext cx="9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D99A2B"/>
                </a:solidFill>
                <a:latin typeface="Helvetica Neue"/>
              </a:rPr>
              <a:t>CEAMLS · HUMAN-AI COLLABORATION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2250000"/>
            <a:ext cx="9500000" cy="1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800" b="1">
                <a:solidFill>
                  <a:srgbClr val="EEF2F0"/>
                </a:solidFill>
                <a:latin typeface="Georgia"/>
              </a:rPr>
              <a:t>ReadAloud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0000" y="3950000"/>
            <a:ext cx="560000" cy="24000"/>
          </a:xfrm>
          <a:prstGeom prst="rect">
            <a:avLst/>
          </a:prstGeom>
          <a:solidFill>
            <a:srgbClr val="EE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000" y="4300000"/>
            <a:ext cx="8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93A5AD"/>
                </a:solidFill>
                <a:latin typeface="Helvetica Neue"/>
              </a:rPr>
              <a:t>A child reads for one minute.</a:t>
            </a:r>
          </a:p>
          <a:p>
            <a:pPr algn="l">
              <a:lnSpc>
                <a:spcPct val="135000"/>
              </a:lnSpc>
            </a:pPr>
            <a:r>
              <a:rPr sz="2400" b="0">
                <a:solidFill>
                  <a:srgbClr val="93A5AD"/>
                </a:solidFill>
                <a:latin typeface="Helvetica Neue"/>
              </a:rPr>
              <a:t>The laptop scores it. Nothing leaves the room.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0000" y="900000"/>
            <a:ext cx="9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2F6F68"/>
                </a:solidFill>
                <a:latin typeface="Helvetica Neue"/>
              </a:rPr>
              <a:t>THE MINUTE THAT COSTS THE MOST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1700000"/>
            <a:ext cx="9600000" cy="1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141C22"/>
                </a:solidFill>
                <a:latin typeface="Georgia"/>
              </a:rPr>
              <a:t>A teacher sits with one child</a:t>
            </a:r>
          </a:p>
          <a:p>
            <a:pPr algn="l">
              <a:lnSpc>
                <a:spcPct val="105000"/>
              </a:lnSpc>
            </a:pPr>
            <a:r>
              <a:rPr sz="4600" b="1">
                <a:solidFill>
                  <a:srgbClr val="141C22"/>
                </a:solidFill>
                <a:latin typeface="Georgia"/>
              </a:rPr>
              <a:t>while twenty seven others wait.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00" y="3900000"/>
            <a:ext cx="8600000" cy="1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00" b="0">
                <a:solidFill>
                  <a:srgbClr val="5D6B73"/>
                </a:solidFill>
                <a:latin typeface="Helvetica Neue"/>
              </a:rPr>
              <a:t>A running record is the most informative minute in elementary literacy assessment. Sixty seconds of reading, then four minutes of hand tallying every error. Three times a year, for every child.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" y="5250000"/>
            <a:ext cx="86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41C22"/>
                </a:solidFill>
                <a:latin typeface="Helvetica Neue"/>
              </a:rPr>
              <a:t>The tallying is the part a machine should do. The judgement is not.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0000" y="900000"/>
            <a:ext cx="9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2F6F68"/>
                </a:solidFill>
                <a:latin typeface="Helvetica Neue"/>
              </a:rPr>
              <a:t>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1700000"/>
            <a:ext cx="960000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41C22"/>
                </a:solidFill>
                <a:latin typeface="Georgia"/>
              </a:rPr>
              <a:t>We already know what the passage says.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00" y="2900000"/>
            <a:ext cx="82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00" b="0">
                <a:solidFill>
                  <a:srgbClr val="5D6B73"/>
                </a:solidFill>
                <a:latin typeface="Helvetica Neue"/>
              </a:rPr>
              <a:t>So this is not open transcription. It is alignment against a known text, which collapses the search space from forty thousand candidate words to about a hundred.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0000" y="4350000"/>
            <a:ext cx="17500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000" y="4560000"/>
            <a:ext cx="159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41C22"/>
                </a:solidFill>
                <a:latin typeface="Helvetica Neue"/>
              </a:rPr>
              <a:t>Microphone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30000" y="4350000"/>
            <a:ext cx="17500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0000" y="4560000"/>
            <a:ext cx="159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41C22"/>
                </a:solidFill>
                <a:latin typeface="Helvetica Neue"/>
              </a:rPr>
              <a:t>Whisper, on 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60000" y="4350000"/>
            <a:ext cx="17500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0000" y="4560000"/>
            <a:ext cx="159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41C22"/>
                </a:solidFill>
                <a:latin typeface="Helvetica Neue"/>
              </a:rPr>
              <a:t>Needleman-Wunsch alignment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90000" y="4350000"/>
            <a:ext cx="17500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0000" y="4560000"/>
            <a:ext cx="159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41C22"/>
                </a:solidFill>
                <a:latin typeface="Helvetica Neue"/>
              </a:rPr>
              <a:t>Miscue classification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0000" y="4350000"/>
            <a:ext cx="17500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00000" y="4560000"/>
            <a:ext cx="159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41C22"/>
                </a:solidFill>
                <a:latin typeface="Helvetica Neue"/>
              </a:rPr>
              <a:t>Running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000" y="5500000"/>
            <a:ext cx="9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F6F68"/>
                </a:solidFill>
                <a:latin typeface="Helvetica Neue"/>
              </a:rPr>
              <a:t>No server · No API key · No language model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0000" y="900000"/>
            <a:ext cx="9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D99A2B"/>
                </a:solidFill>
                <a:latin typeface="Helvetica Neue"/>
              </a:rPr>
              <a:t>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2100000"/>
            <a:ext cx="9600000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6600" b="1">
                <a:solidFill>
                  <a:srgbClr val="EEF2F0"/>
                </a:solidFill>
                <a:latin typeface="Georgia"/>
              </a:rPr>
              <a:t>Turn the wifi off</a:t>
            </a:r>
          </a:p>
          <a:p>
            <a:pPr algn="l">
              <a:lnSpc>
                <a:spcPct val="102000"/>
              </a:lnSpc>
            </a:pPr>
            <a:r>
              <a:rPr sz="6600" b="1">
                <a:solidFill>
                  <a:srgbClr val="EEF2F0"/>
                </a:solidFill>
                <a:latin typeface="Georgia"/>
              </a:rPr>
              <a:t>and read to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00" y="4700000"/>
            <a:ext cx="86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0">
                <a:solidFill>
                  <a:srgbClr val="93A5AD"/>
                </a:solidFill>
                <a:latin typeface="Helvetica Neue"/>
              </a:rPr>
              <a:t>Verified in a real browser with every external host blocked. Record, transcribe, score, print. Zero outbound requests.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0000" y="900000"/>
            <a:ext cx="9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2F6F68"/>
                </a:solidFill>
                <a:latin typeface="Helvetica Neue"/>
              </a:rPr>
              <a:t>WHAT THE TEACHER SEES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1600000"/>
            <a:ext cx="96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1C22"/>
                </a:solidFill>
                <a:latin typeface="Georgia"/>
              </a:rPr>
              <a:t>Every deviation is named, and so is every forgiveness.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00" y="2450000"/>
            <a:ext cx="9800000" cy="12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50000"/>
              </a:lnSpc>
            </a:pPr>
            <a:r>
              <a:rPr sz="3000">
                <a:solidFill>
                  <a:srgbClr val="141C22"/>
                </a:solidFill>
                <a:latin typeface="Georgia"/>
              </a:rPr>
              <a:t>Nora </a:t>
            </a:r>
            <a:r>
              <a:rPr sz="3000" strike="sngStrike">
                <a:solidFill>
                  <a:srgbClr val="B3261E"/>
                </a:solidFill>
                <a:latin typeface="Georgia"/>
              </a:rPr>
              <a:t>lost</a:t>
            </a:r>
            <a:r>
              <a:rPr sz="3000">
                <a:solidFill>
                  <a:srgbClr val="141C22"/>
                </a:solidFill>
                <a:latin typeface="Georgia"/>
              </a:rPr>
              <a:t> her </a:t>
            </a:r>
            <a:r>
              <a:rPr sz="3000" u="sng">
                <a:solidFill>
                  <a:srgbClr val="8A5A00"/>
                </a:solidFill>
                <a:latin typeface="Georgia"/>
              </a:rPr>
              <a:t>red</a:t>
            </a:r>
            <a:r>
              <a:rPr sz="3000">
                <a:solidFill>
                  <a:srgbClr val="141C22"/>
                </a:solidFill>
                <a:latin typeface="Georgia"/>
              </a:rPr>
              <a:t> mitten on the way to </a:t>
            </a:r>
            <a:r>
              <a:rPr sz="3000" u="sng">
                <a:solidFill>
                  <a:srgbClr val="2F7D4F"/>
                </a:solidFill>
                <a:latin typeface="Georgia"/>
              </a:rPr>
              <a:t>school</a:t>
            </a:r>
            <a:r>
              <a:rPr sz="3000">
                <a:solidFill>
                  <a:srgbClr val="141C22"/>
                </a:solidFill>
                <a:latin typeface="Georgia"/>
              </a:rPr>
              <a:t>, but the </a:t>
            </a:r>
            <a:r>
              <a:rPr sz="3000" u="sng">
                <a:solidFill>
                  <a:srgbClr val="B3261E"/>
                </a:solidFill>
                <a:latin typeface="Georgia"/>
              </a:rPr>
              <a:t>bell</a:t>
            </a:r>
            <a:r>
              <a:rPr sz="3000">
                <a:solidFill>
                  <a:srgbClr val="141C22"/>
                </a:solidFill>
                <a:latin typeface="Georgia"/>
              </a:rPr>
              <a:t> rang for recess.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0000" y="4300000"/>
            <a:ext cx="3050000" cy="13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0000" y="4470000"/>
            <a:ext cx="261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F7D4F"/>
                </a:solidFill>
                <a:latin typeface="Helvetica Neue"/>
              </a:rPr>
              <a:t>Green, dotted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0000" y="4830000"/>
            <a:ext cx="261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D6B73"/>
                </a:solidFill>
                <a:latin typeface="Helvetica Neue"/>
              </a:rPr>
              <a:t>Self correction. Not an error. Evidence the reader is monitoring themselves.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0000" y="4300000"/>
            <a:ext cx="3050000" cy="13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0000" y="4470000"/>
            <a:ext cx="261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B3261E"/>
                </a:solidFill>
                <a:latin typeface="Helvetica Neue"/>
              </a:rPr>
              <a:t>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0000" y="4830000"/>
            <a:ext cx="261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D6B73"/>
                </a:solidFill>
                <a:latin typeface="Helvetica Neue"/>
              </a:rPr>
              <a:t>Counted as an error. Struck through if skipped, underlined if misread.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60000" y="4300000"/>
            <a:ext cx="3050000" cy="13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0000" y="4470000"/>
            <a:ext cx="261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A5A00"/>
                </a:solidFill>
                <a:latin typeface="Helvetica Neue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0000" y="4830000"/>
            <a:ext cx="261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D6B73"/>
                </a:solidFill>
                <a:latin typeface="Helvetica Neue"/>
              </a:rPr>
              <a:t>We are not confident enough to call it an error, so we do not.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0000" y="900000"/>
            <a:ext cx="9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2F6F68"/>
                </a:solidFill>
                <a:latin typeface="Helvetica Neue"/>
              </a:rPr>
              <a:t>THE CONTROL THAT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1700000"/>
            <a:ext cx="9600000" cy="1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141C22"/>
                </a:solidFill>
                <a:latin typeface="Georgia"/>
              </a:rPr>
              <a:t>The override runs</a:t>
            </a:r>
          </a:p>
          <a:p>
            <a:pPr algn="l">
              <a:lnSpc>
                <a:spcPct val="105000"/>
              </a:lnSpc>
            </a:pPr>
            <a:r>
              <a:rPr sz="4800" b="1">
                <a:solidFill>
                  <a:srgbClr val="141C22"/>
                </a:solidFill>
                <a:latin typeface="Georgia"/>
              </a:rPr>
              <a:t>in both directions.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00" y="3550000"/>
            <a:ext cx="86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00" b="0">
                <a:solidFill>
                  <a:srgbClr val="5D6B73"/>
                </a:solidFill>
                <a:latin typeface="Helvetica Neue"/>
              </a:rPr>
              <a:t>Four filters sit in this engine and every one of them can only remove errors. If the only control a teacher had were the power to forgive, every adjustment the tool offered would push the score upward.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" y="4750000"/>
            <a:ext cx="86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41C22"/>
                </a:solidFill>
                <a:latin typeface="Helvetica Neue"/>
              </a:rPr>
              <a:t>So a teacher can mark a flagged word correct, and mark a forgiven word as an error.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" y="5450000"/>
            <a:ext cx="86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F6F68"/>
                </a:solidFill>
                <a:latin typeface="Georgia"/>
              </a:rPr>
              <a:t>The teacher is the assessor. We are the stopwatch.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0000" y="900000"/>
            <a:ext cx="9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D99A2B"/>
                </a:solidFill>
                <a:latin typeface="Helvetica Neue"/>
              </a:rPr>
              <a:t>OUR HEADLINE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1700000"/>
            <a:ext cx="9400000" cy="2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EEF2F0"/>
                </a:solidFill>
                <a:latin typeface="Georgia"/>
              </a:rPr>
              <a:t>A dialect layer, so a child who speaks African American English is not scored down for pronunciation.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00" y="4350000"/>
            <a:ext cx="8800000" cy="1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93A5AD"/>
                </a:solidFill>
                <a:latin typeface="Helvetica Neue"/>
              </a:rPr>
              <a:t>Miscue analysis has done exactly that for decades. Speech recognisers make it worse: roughly double the word error rate for Black speakers across all five major commercial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" y="5750000"/>
            <a:ext cx="88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3A5AD"/>
                </a:solidFill>
                <a:latin typeface="Helvetica Neue"/>
              </a:rPr>
              <a:t>Labov &amp; Baker 2010 · Charity et al. 2004 · Koenecke et al., PNAS 2020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500000"/>
            <a:ext cx="12192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220">
                <a:solidFill>
                  <a:srgbClr val="D99A2B"/>
                </a:solidFill>
                <a:latin typeface="Helvetica Neue"/>
              </a:rPr>
              <a:t>WE MEASURED WHETHER IT FIRES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000000"/>
            <a:ext cx="12192000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0" b="1">
                <a:solidFill>
                  <a:srgbClr val="D99A2B"/>
                </a:solidFill>
                <a:latin typeface="Georgia"/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350000"/>
            <a:ext cx="12192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EEF2F0"/>
                </a:solidFill>
                <a:latin typeface="Georgia"/>
              </a:rPr>
              <a:t>times, across five passages and four hundred and twenty one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150000"/>
            <a:ext cx="12192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93A5AD"/>
                </a:solidFill>
                <a:latin typeface="Helvetica Neue"/>
              </a:rPr>
              <a:t>We published the zero.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0000" y="900000"/>
            <a:ext cx="9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2F6F68"/>
                </a:solidFill>
                <a:latin typeface="Helvetica Neue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1600000"/>
            <a:ext cx="96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1C22"/>
                </a:solidFill>
                <a:latin typeface="Georgia"/>
              </a:rPr>
              <a:t>Whisper rewrites the dialect before our rules ever see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00" y="2500000"/>
            <a:ext cx="19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C22"/>
                </a:solidFill>
                <a:latin typeface="Georgia"/>
              </a:rPr>
              <a:t>aksed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000" y="2500000"/>
            <a:ext cx="21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C22"/>
                </a:solidFill>
                <a:latin typeface="Georgia"/>
              </a:rPr>
              <a:t>asked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0" y="2500000"/>
            <a:ext cx="42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D6B73"/>
                </a:solidFill>
                <a:latin typeface="Helvetica Neue"/>
              </a:rPr>
              <a:t>normalised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" y="3020000"/>
            <a:ext cx="19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C22"/>
                </a:solidFill>
                <a:latin typeface="Georgia"/>
              </a:rPr>
              <a:t>wif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000" y="3020000"/>
            <a:ext cx="21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C22"/>
                </a:solidFill>
                <a:latin typeface="Georgia"/>
              </a:rPr>
              <a:t>with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0" y="3020000"/>
            <a:ext cx="42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D6B73"/>
                </a:solidFill>
                <a:latin typeface="Helvetica Neue"/>
              </a:rPr>
              <a:t>normalised 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00" y="3540000"/>
            <a:ext cx="19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C22"/>
                </a:solidFill>
                <a:latin typeface="Georgia"/>
              </a:rPr>
              <a:t>sista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000" y="3540000"/>
            <a:ext cx="21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C22"/>
                </a:solidFill>
                <a:latin typeface="Georgia"/>
              </a:rPr>
              <a:t>sister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0" y="3540000"/>
            <a:ext cx="42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D6B73"/>
                </a:solidFill>
                <a:latin typeface="Helvetica Neue"/>
              </a:rPr>
              <a:t>normalised 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00" y="4060000"/>
            <a:ext cx="19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C22"/>
                </a:solidFill>
                <a:latin typeface="Georgia"/>
              </a:rPr>
              <a:t>dis 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000" y="4060000"/>
            <a:ext cx="21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B3261E"/>
                </a:solidFill>
                <a:latin typeface="Georgia"/>
              </a:rPr>
              <a:t>Diskal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0000" y="4060000"/>
            <a:ext cx="42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D6B73"/>
                </a:solidFill>
                <a:latin typeface="Helvetica Neue"/>
              </a:rPr>
              <a:t>word boundary destroyed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000" y="4580000"/>
            <a:ext cx="19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C22"/>
                </a:solidFill>
                <a:latin typeface="Georgia"/>
              </a:rPr>
              <a:t>fo 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000" y="4580000"/>
            <a:ext cx="21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B3261E"/>
                </a:solidFill>
                <a:latin typeface="Georgia"/>
              </a:rPr>
              <a:t>Fofo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0000" y="4580000"/>
            <a:ext cx="42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D6B73"/>
                </a:solidFill>
                <a:latin typeface="Helvetica Neue"/>
              </a:rPr>
              <a:t>word boundary destroyed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000" y="5350000"/>
            <a:ext cx="92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141C22"/>
                </a:solidFill>
                <a:latin typeface="Helvetica Neue"/>
              </a:rPr>
              <a:t>A layer that compares words cannot repair a broken word boundary. The dialect speaking reader is charged five errors on a twelve word passage, and our feature is blind to all of it.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0000" y="900000"/>
            <a:ext cx="9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2F6F68"/>
                </a:solidFill>
                <a:latin typeface="Helvetica Neue"/>
              </a:rPr>
              <a:t>SO THE HONEST CLAIM IS SMALLER, AND IT SURVIVES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1700000"/>
            <a:ext cx="9400000" cy="1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141C22"/>
                </a:solidFill>
                <a:latin typeface="Georgia"/>
              </a:rPr>
              <a:t>The equity contribution is the architecture, not the rule 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00" y="3700000"/>
            <a:ext cx="880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>
                <a:solidFill>
                  <a:srgbClr val="141C22"/>
                </a:solidFill>
                <a:latin typeface="Helvetica Neue"/>
              </a:rPr>
              <a:t>Aligning against a known hundred word passage collapses the recognition search space from roughly forty thousand candidates to a hundred. That absorbs most accent driven recognition error structurally, rather than by rule.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" y="5100000"/>
            <a:ext cx="88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F6F68"/>
                </a:solidFill>
                <a:latin typeface="Helvetica Neue"/>
              </a:rPr>
              <a:t>And no child's voice ever leaves the laptop.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0000" y="900000"/>
            <a:ext cx="9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2F6F68"/>
                </a:solidFill>
                <a:latin typeface="Helvetica Neue"/>
              </a:rPr>
              <a:t>WE TESTED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0000" y="1500000"/>
            <a:ext cx="3050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0000" y="1680000"/>
            <a:ext cx="261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2F7D4F"/>
                </a:solidFill>
                <a:latin typeface="Georgia"/>
              </a:rPr>
              <a:t>0.48%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0000" y="2400000"/>
            <a:ext cx="261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110">
                <a:solidFill>
                  <a:srgbClr val="5D6B73"/>
                </a:solidFill>
                <a:latin typeface="Helvetica Neue"/>
              </a:rPr>
              <a:t>FALSE POSITIVES, CLEAN READS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0000" y="1500000"/>
            <a:ext cx="3050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0000" y="1680000"/>
            <a:ext cx="261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2F7D4F"/>
                </a:solidFill>
                <a:latin typeface="Georgia"/>
              </a:rPr>
              <a:t>0.4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0000" y="2400000"/>
            <a:ext cx="261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110">
                <a:solidFill>
                  <a:srgbClr val="5D6B73"/>
                </a:solidFill>
                <a:latin typeface="Helvetica Neue"/>
              </a:rPr>
              <a:t>MEAN WCPM 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60000" y="1500000"/>
            <a:ext cx="3050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0000" y="1680000"/>
            <a:ext cx="261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41C22"/>
                </a:solidFill>
                <a:latin typeface="Georgia"/>
              </a:rPr>
              <a:t>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0000" y="2400000"/>
            <a:ext cx="261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110">
                <a:solidFill>
                  <a:srgbClr val="5D6B73"/>
                </a:solidFill>
                <a:latin typeface="Helvetica Neue"/>
              </a:rPr>
              <a:t>AUTOMATED TESTS, ALL GREEN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000" y="3150000"/>
            <a:ext cx="1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30">
                <a:solidFill>
                  <a:srgbClr val="5D6B73"/>
                </a:solidFill>
                <a:latin typeface="Helvetica Neue"/>
              </a:rPr>
              <a:t>MISCUE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00000" y="3150000"/>
            <a:ext cx="1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30">
                <a:solidFill>
                  <a:srgbClr val="5D6B73"/>
                </a:solidFill>
                <a:latin typeface="Helvetica Neue"/>
              </a:rP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0000" y="3150000"/>
            <a:ext cx="1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30">
                <a:solidFill>
                  <a:srgbClr val="5D6B73"/>
                </a:solidFill>
                <a:latin typeface="Helvetica Neue"/>
              </a:rP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0000" y="3150000"/>
            <a:ext cx="1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30">
                <a:solidFill>
                  <a:srgbClr val="5D6B73"/>
                </a:solidFill>
                <a:latin typeface="Helvetica Neue"/>
              </a:rPr>
              <a:t>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000" y="3550000"/>
            <a:ext cx="17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1C22"/>
                </a:solidFill>
                <a:latin typeface="Helvetica Neue"/>
              </a:rPr>
              <a:t>Substitution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0000" y="3550000"/>
            <a:ext cx="17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1C22"/>
                </a:solidFill>
                <a:latin typeface="Helvetica Neue"/>
              </a:rPr>
              <a:t>81.8%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0000" y="3550000"/>
            <a:ext cx="17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1C22"/>
                </a:solidFill>
                <a:latin typeface="Helvetica Neue"/>
              </a:rPr>
              <a:t>90.0%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0000" y="3550000"/>
            <a:ext cx="17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1C22"/>
                </a:solidFill>
                <a:latin typeface="Helvetica Neue"/>
              </a:rPr>
              <a:t>85.7%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000" y="4030000"/>
            <a:ext cx="17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1C22"/>
                </a:solidFill>
                <a:latin typeface="Helvetica Neue"/>
              </a:rPr>
              <a:t>Omission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0000" y="4030000"/>
            <a:ext cx="17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1C22"/>
                </a:solidFill>
                <a:latin typeface="Helvetica Neue"/>
              </a:rPr>
              <a:t>93.8%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0000" y="4030000"/>
            <a:ext cx="17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1C22"/>
                </a:solidFill>
                <a:latin typeface="Helvetica Neue"/>
              </a:rPr>
              <a:t>100.0%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0000" y="4030000"/>
            <a:ext cx="17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1C22"/>
                </a:solidFill>
                <a:latin typeface="Helvetica Neue"/>
              </a:rPr>
              <a:t>96.8%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000" y="4510000"/>
            <a:ext cx="17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1C22"/>
                </a:solidFill>
                <a:latin typeface="Helvetica Neue"/>
              </a:rPr>
              <a:t>Insertion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00000" y="4510000"/>
            <a:ext cx="17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1C22"/>
                </a:solidFill>
                <a:latin typeface="Helvetica Neue"/>
              </a:rPr>
              <a:t>83.3%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0000" y="4510000"/>
            <a:ext cx="17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1C22"/>
                </a:solidFill>
                <a:latin typeface="Helvetica Neue"/>
              </a:rPr>
              <a:t>100.0%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0000" y="4510000"/>
            <a:ext cx="17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1C22"/>
                </a:solidFill>
                <a:latin typeface="Helvetica Neue"/>
              </a:rPr>
              <a:t>90.9%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000" y="4990000"/>
            <a:ext cx="17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1C22"/>
                </a:solidFill>
                <a:latin typeface="Helvetica Neue"/>
              </a:rPr>
              <a:t>Self correction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00000" y="4990000"/>
            <a:ext cx="17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1C22"/>
                </a:solidFill>
                <a:latin typeface="Helvetica Neue"/>
              </a:rPr>
              <a:t>100.0%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0000" y="4990000"/>
            <a:ext cx="17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1C22"/>
                </a:solidFill>
                <a:latin typeface="Helvetica Neue"/>
              </a:rPr>
              <a:t>40.0%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00000" y="4990000"/>
            <a:ext cx="17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1C22"/>
                </a:solidFill>
                <a:latin typeface="Helvetica Neue"/>
              </a:rPr>
              <a:t>57.1%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000" y="5650000"/>
            <a:ext cx="92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D6B73"/>
                </a:solidFill>
                <a:latin typeface="Helvetica Neue"/>
              </a:rPr>
              <a:t>Ground truth is constructed, not annotated. We generate the spoken text from the reference by applying an explicit error script, so there is no labelling step to disagree with.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0000" y="900000"/>
            <a:ext cx="9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2F6F68"/>
                </a:solidFill>
                <a:latin typeface="Helvetica Neue"/>
              </a:rPr>
              <a:t>WHY FALSE POSITIVES IS THE NUMBER WE OPTIMISED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1900000"/>
            <a:ext cx="9400000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>
                <a:solidFill>
                  <a:srgbClr val="141C22"/>
                </a:solidFill>
                <a:latin typeface="Georgia"/>
              </a:rPr>
              <a:t>Telling a child who read correctly that they made a mistake is the worse failure.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00" y="4400000"/>
            <a:ext cx="88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>
                <a:solidFill>
                  <a:srgbClr val="5D6B73"/>
                </a:solidFill>
                <a:latin typeface="Helvetica Neue"/>
              </a:rPr>
              <a:t>Those two errors do not trade off evenly in a classroom. One costs a teacher thirty seconds of checking. The other costs a seven year old some part of their belief that they can read.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0000" y="900000"/>
            <a:ext cx="9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2F6F68"/>
                </a:solidFill>
                <a:latin typeface="Helvetica Neue"/>
              </a:rPr>
              <a:t>WHAT IT CANNOT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1600000"/>
            <a:ext cx="94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41C22"/>
                </a:solidFill>
                <a:latin typeface="Georgia"/>
              </a:rPr>
              <a:t>We have never run this on a child's 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00" y="2500000"/>
            <a:ext cx="88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5D6B73"/>
                </a:solidFill>
                <a:latin typeface="Helvetica Neue"/>
              </a:rPr>
              <a:t>Every evaluation clip is speech synthesis, one adult voice reading faster than the ninetieth percentile for grade six. A seven year old at sixty words a minute with real pauses will behave differently, and that is the largest unknown in the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" y="3900000"/>
            <a:ext cx="88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5D6B73"/>
                </a:solidFill>
                <a:latin typeface="Helvetica Neue"/>
              </a:rPr>
              <a:t>Self correction recall is forty percent by construction. Published norms stop at grade six. It is a screening aid and a research prototype, not a validated instrument.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" y="5100000"/>
            <a:ext cx="88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141C22"/>
                </a:solidFill>
                <a:latin typeface="Helvetica Neue"/>
              </a:rPr>
              <a:t>The path to one is an inter rater reliability study against certified human scorers, stratified by dialect. That is a semester, not a weekend.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0000" y="900000"/>
            <a:ext cx="9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D99A2B"/>
                </a:solidFill>
                <a:latin typeface="Helvetica Neue"/>
              </a:rPr>
              <a:t>READALOUD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1900000"/>
            <a:ext cx="9400000" cy="2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000" b="1">
                <a:solidFill>
                  <a:srgbClr val="EEF2F0"/>
                </a:solidFill>
                <a:latin typeface="Georgia"/>
              </a:rPr>
              <a:t>No subscription.</a:t>
            </a:r>
          </a:p>
          <a:p>
            <a:pPr algn="l">
              <a:lnSpc>
                <a:spcPct val="112000"/>
              </a:lnSpc>
            </a:pPr>
            <a:r>
              <a:rPr sz="5000" b="1">
                <a:solidFill>
                  <a:srgbClr val="EEF2F0"/>
                </a:solidFill>
                <a:latin typeface="Georgia"/>
              </a:rPr>
              <a:t>No API key.</a:t>
            </a:r>
          </a:p>
          <a:p>
            <a:pPr algn="l">
              <a:lnSpc>
                <a:spcPct val="112000"/>
              </a:lnSpc>
            </a:pPr>
            <a:r>
              <a:rPr sz="5000" b="1">
                <a:solidFill>
                  <a:srgbClr val="EEF2F0"/>
                </a:solidFill>
                <a:latin typeface="Georgia"/>
              </a:rPr>
              <a:t>No child's voice leaving the building.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00" y="4900000"/>
            <a:ext cx="88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93A5AD"/>
                </a:solidFill>
                <a:latin typeface="Helvetica Neue"/>
              </a:rPr>
              <a:t>It runs on hardware schools already 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" y="5600000"/>
            <a:ext cx="88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D99A2B"/>
                </a:solidFill>
                <a:latin typeface="Helvetica Neue"/>
              </a:rPr>
              <a:t>Here is the printed running record.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